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1675"/>
  <p:notesSz cx="6858000" cy="12191675"/>
  <p:embeddedFontLst>
    <p:embeddedFont>
      <p:font typeface="Raleway"/>
      <p:regular r:id="rId16"/>
      <p:bold r:id="rId17"/>
      <p:italic r:id="rId18"/>
      <p:boldItalic r:id="rId19"/>
    </p:embeddedFont>
    <p:embeddedFont>
      <p:font typeface="Robo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gELrFqA/YjyeuvPGWZ3KccWq6W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11" Type="http://schemas.openxmlformats.org/officeDocument/2006/relationships/slide" Target="slides/slide7.xml"/><Relationship Id="rId22" Type="http://schemas.openxmlformats.org/officeDocument/2006/relationships/font" Target="fonts/Roboto-italic.fntdata"/><Relationship Id="rId10" Type="http://schemas.openxmlformats.org/officeDocument/2006/relationships/slide" Target="slides/slide6.xml"/><Relationship Id="rId21" Type="http://schemas.openxmlformats.org/officeDocument/2006/relationships/font" Target="fonts/Roboto-bold.fntdata"/><Relationship Id="rId13" Type="http://schemas.openxmlformats.org/officeDocument/2006/relationships/slide" Target="slides/slide9.xml"/><Relationship Id="rId24" Type="http://customschemas.google.com/relationships/presentationmetadata" Target="metadata"/><Relationship Id="rId12" Type="http://schemas.openxmlformats.org/officeDocument/2006/relationships/slide" Target="slides/slide8.xml"/><Relationship Id="rId23" Type="http://schemas.openxmlformats.org/officeDocument/2006/relationships/font" Target="fonts/Roboto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Raleway-bold.fntdata"/><Relationship Id="rId16" Type="http://schemas.openxmlformats.org/officeDocument/2006/relationships/font" Target="fonts/Raleway-regular.fntdata"/><Relationship Id="rId5" Type="http://schemas.openxmlformats.org/officeDocument/2006/relationships/slide" Target="slides/slide1.xml"/><Relationship Id="rId19" Type="http://schemas.openxmlformats.org/officeDocument/2006/relationships/font" Target="fonts/Raleway-boldItalic.fntdata"/><Relationship Id="rId6" Type="http://schemas.openxmlformats.org/officeDocument/2006/relationships/slide" Target="slides/slide2.xml"/><Relationship Id="rId18" Type="http://schemas.openxmlformats.org/officeDocument/2006/relationships/font" Target="fonts/Raleway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1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76875" y="65589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3.png"/><Relationship Id="rId6" Type="http://schemas.openxmlformats.org/officeDocument/2006/relationships/image" Target="../media/image11.png"/><Relationship Id="rId7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jpg"/><Relationship Id="rId4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Relationship Id="rId4" Type="http://schemas.openxmlformats.org/officeDocument/2006/relationships/image" Target="../media/image14.png"/><Relationship Id="rId5" Type="http://schemas.openxmlformats.org/officeDocument/2006/relationships/image" Target="../media/image21.png"/><Relationship Id="rId6" Type="http://schemas.openxmlformats.org/officeDocument/2006/relationships/image" Target="../media/image24.png"/><Relationship Id="rId7" Type="http://schemas.openxmlformats.org/officeDocument/2006/relationships/image" Target="../media/image13.png"/><Relationship Id="rId8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"/>
          <p:cNvSpPr/>
          <p:nvPr/>
        </p:nvSpPr>
        <p:spPr>
          <a:xfrm>
            <a:off x="661475" y="470991"/>
            <a:ext cx="10868745" cy="4526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850"/>
              <a:buFont typeface="Raleway"/>
              <a:buNone/>
            </a:pPr>
            <a:r>
              <a:rPr b="0" i="0" lang="en-US" sz="28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How Intent Detection Works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61475" y="1177330"/>
            <a:ext cx="11478330" cy="2172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From raw user message to classified intent — end to 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" name="Google Shape;2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63600" y="1537295"/>
            <a:ext cx="6064396" cy="3599359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"/>
          <p:cNvSpPr/>
          <p:nvPr/>
        </p:nvSpPr>
        <p:spPr>
          <a:xfrm>
            <a:off x="7284520" y="4156560"/>
            <a:ext cx="1507483" cy="5808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800"/>
              <a:buFont typeface="Raleway"/>
              <a:buNone/>
            </a:pPr>
            <a:r>
              <a:rPr b="0" i="0" lang="en-US" sz="18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Classified Intent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5384679" y="4156560"/>
            <a:ext cx="1507483" cy="5808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800"/>
              <a:buFont typeface="Raleway"/>
              <a:buNone/>
            </a:pPr>
            <a:r>
              <a:rPr b="0" i="0" lang="en-US" sz="18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Intent Detection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3453861" y="4301762"/>
            <a:ext cx="1507483" cy="2904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800"/>
              <a:buFont typeface="Raleway"/>
              <a:buNone/>
            </a:pPr>
            <a:r>
              <a:rPr b="0" i="0" lang="en-US" sz="18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Raw Message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661475" y="5279330"/>
            <a:ext cx="11478330" cy="2172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Solving the core problem: routing any user message to the right response handler, reliably, across every business profile.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661475" y="5639296"/>
            <a:ext cx="10868745" cy="747713"/>
          </a:xfrm>
          <a:prstGeom prst="roundRect">
            <a:avLst>
              <a:gd fmla="val 8136" name="adj"/>
            </a:avLst>
          </a:prstGeom>
          <a:solidFill>
            <a:srgbClr val="E1E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" name="Google Shape;2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6231" y="5839520"/>
            <a:ext cx="180970" cy="14476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1"/>
          <p:cNvSpPr/>
          <p:nvPr/>
        </p:nvSpPr>
        <p:spPr>
          <a:xfrm>
            <a:off x="1131958" y="5802213"/>
            <a:ext cx="10253505" cy="4345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This deck is a technical deep-dive into the intent detection pipeline — from scope resolution through post-classification overrides. Every function name, code snippet, and example is drawn verbatim from the codebase.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5084325" y="6556275"/>
            <a:ext cx="7107300" cy="30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"/>
          <p:cNvSpPr/>
          <p:nvPr/>
        </p:nvSpPr>
        <p:spPr>
          <a:xfrm>
            <a:off x="661475" y="537766"/>
            <a:ext cx="10868745" cy="335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100"/>
              <a:buFont typeface="Raleway"/>
              <a:buNone/>
            </a:pPr>
            <a:r>
              <a:rPr b="0" i="0" lang="en-US" sz="21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The Big Picture: 8-Step Pipeline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661475" y="1013420"/>
            <a:ext cx="11478330" cy="141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Every incoming message travels through the same deterministic pipeline before a single token of reply is generated.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" name="Google Shape;3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1233884"/>
            <a:ext cx="5434373" cy="430014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2"/>
          <p:cNvSpPr/>
          <p:nvPr/>
        </p:nvSpPr>
        <p:spPr>
          <a:xfrm>
            <a:off x="768926" y="1733748"/>
            <a:ext cx="504217" cy="163413"/>
          </a:xfrm>
          <a:prstGeom prst="roundRect">
            <a:avLst>
              <a:gd fmla="val 22104" name="adj"/>
            </a:avLst>
          </a:prstGeom>
          <a:solidFill>
            <a:srgbClr val="E1E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833417" y="1765995"/>
            <a:ext cx="375236" cy="98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650"/>
              <a:buFont typeface="Roboto"/>
              <a:buNone/>
            </a:pPr>
            <a:r>
              <a:rPr b="0" i="0" lang="en-US" sz="6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SETUP · 1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768926" y="1925042"/>
            <a:ext cx="5219470" cy="167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050"/>
              <a:buFont typeface="Raleway"/>
              <a:buNone/>
            </a:pPr>
            <a:r>
              <a:rPr b="0" i="0" lang="en-US" sz="10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Scope Resolution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768926" y="2134791"/>
            <a:ext cx="5219470" cy="141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Tenant, profile, KB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" name="Google Shape;4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5848" y="1233884"/>
            <a:ext cx="5434373" cy="430014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2"/>
          <p:cNvSpPr/>
          <p:nvPr/>
        </p:nvSpPr>
        <p:spPr>
          <a:xfrm>
            <a:off x="6203299" y="1733748"/>
            <a:ext cx="504217" cy="163413"/>
          </a:xfrm>
          <a:prstGeom prst="roundRect">
            <a:avLst>
              <a:gd fmla="val 22104" name="adj"/>
            </a:avLst>
          </a:prstGeom>
          <a:solidFill>
            <a:srgbClr val="E1E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6267789" y="1765995"/>
            <a:ext cx="375236" cy="98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650"/>
              <a:buFont typeface="Roboto"/>
              <a:buNone/>
            </a:pPr>
            <a:r>
              <a:rPr b="0" i="0" lang="en-US" sz="6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SETUP · 2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6203299" y="1925042"/>
            <a:ext cx="5219470" cy="167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050"/>
              <a:buFont typeface="Raleway"/>
              <a:buNone/>
            </a:pPr>
            <a:r>
              <a:rPr b="0" i="0" lang="en-US" sz="10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Mode Selection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6203299" y="2134791"/>
            <a:ext cx="5219470" cy="141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AI or local?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8" name="Google Shape;48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1475" y="2384127"/>
            <a:ext cx="5434373" cy="430014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2"/>
          <p:cNvSpPr/>
          <p:nvPr/>
        </p:nvSpPr>
        <p:spPr>
          <a:xfrm>
            <a:off x="768926" y="2883991"/>
            <a:ext cx="504217" cy="163413"/>
          </a:xfrm>
          <a:prstGeom prst="roundRect">
            <a:avLst>
              <a:gd fmla="val 22104" name="adj"/>
            </a:avLst>
          </a:prstGeom>
          <a:solidFill>
            <a:srgbClr val="E1E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833417" y="2916237"/>
            <a:ext cx="375236" cy="98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650"/>
              <a:buFont typeface="Roboto"/>
              <a:buNone/>
            </a:pPr>
            <a:r>
              <a:rPr b="0" i="0" lang="en-US" sz="6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SETUP · 3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768926" y="3075285"/>
            <a:ext cx="5219470" cy="167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050"/>
              <a:buFont typeface="Raleway"/>
              <a:buNone/>
            </a:pPr>
            <a:r>
              <a:rPr b="0" i="0" lang="en-US" sz="10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Context Assembly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768926" y="3285034"/>
            <a:ext cx="5219470" cy="141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History + constraints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3" name="Google Shape;53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95848" y="2384127"/>
            <a:ext cx="5434373" cy="430014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"/>
          <p:cNvSpPr/>
          <p:nvPr/>
        </p:nvSpPr>
        <p:spPr>
          <a:xfrm>
            <a:off x="6203299" y="2883991"/>
            <a:ext cx="625955" cy="163413"/>
          </a:xfrm>
          <a:prstGeom prst="roundRect">
            <a:avLst>
              <a:gd fmla="val 22104" name="adj"/>
            </a:avLst>
          </a:prstGeom>
          <a:solidFill>
            <a:srgbClr val="E1E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6267789" y="2916237"/>
            <a:ext cx="496974" cy="98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650"/>
              <a:buFont typeface="Roboto"/>
              <a:buNone/>
            </a:pPr>
            <a:r>
              <a:rPr b="0" i="0" lang="en-US" sz="6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CLASSIFY · 4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6203299" y="3075285"/>
            <a:ext cx="5219470" cy="167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050"/>
              <a:buFont typeface="Raleway"/>
              <a:buNone/>
            </a:pPr>
            <a:r>
              <a:rPr b="0" i="0" lang="en-US" sz="10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Dialogue Act Pre-check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6203299" y="3285034"/>
            <a:ext cx="5219470" cy="141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Greeting or ack?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8" name="Google Shape;5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3612952"/>
            <a:ext cx="5434373" cy="430014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2"/>
          <p:cNvSpPr/>
          <p:nvPr/>
        </p:nvSpPr>
        <p:spPr>
          <a:xfrm>
            <a:off x="768926" y="4112816"/>
            <a:ext cx="625955" cy="163413"/>
          </a:xfrm>
          <a:prstGeom prst="roundRect">
            <a:avLst>
              <a:gd fmla="val 22104" name="adj"/>
            </a:avLst>
          </a:prstGeom>
          <a:solidFill>
            <a:srgbClr val="E1E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833417" y="4145062"/>
            <a:ext cx="496974" cy="98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650"/>
              <a:buFont typeface="Roboto"/>
              <a:buNone/>
            </a:pPr>
            <a:r>
              <a:rPr b="0" i="0" lang="en-US" sz="6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CLASSIFY · 5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768926" y="4304109"/>
            <a:ext cx="5219470" cy="167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050"/>
              <a:buFont typeface="Raleway"/>
              <a:buNone/>
            </a:pPr>
            <a:r>
              <a:rPr b="0" i="0" lang="en-US" sz="10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Classification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768926" y="4513858"/>
            <a:ext cx="5219470" cy="141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LLM or keyword rules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3" name="Google Shape;6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5848" y="3612952"/>
            <a:ext cx="5434373" cy="430014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2"/>
          <p:cNvSpPr/>
          <p:nvPr/>
        </p:nvSpPr>
        <p:spPr>
          <a:xfrm>
            <a:off x="6203299" y="4112816"/>
            <a:ext cx="625955" cy="163413"/>
          </a:xfrm>
          <a:prstGeom prst="roundRect">
            <a:avLst>
              <a:gd fmla="val 22104" name="adj"/>
            </a:avLst>
          </a:prstGeom>
          <a:solidFill>
            <a:srgbClr val="E1E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6267789" y="4145062"/>
            <a:ext cx="496974" cy="98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650"/>
              <a:buFont typeface="Roboto"/>
              <a:buNone/>
            </a:pPr>
            <a:r>
              <a:rPr b="0" i="0" lang="en-US" sz="6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CLASSIFY · 6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6203299" y="4304109"/>
            <a:ext cx="5219470" cy="167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050"/>
              <a:buFont typeface="Raleway"/>
              <a:buNone/>
            </a:pPr>
            <a:r>
              <a:rPr b="0" i="0" lang="en-US" sz="10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Allowed-Intent Gate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6203299" y="4513858"/>
            <a:ext cx="5219470" cy="141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Reject out-of-profile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8" name="Google Shape;68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1475" y="4763195"/>
            <a:ext cx="5434373" cy="430014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2"/>
          <p:cNvSpPr/>
          <p:nvPr/>
        </p:nvSpPr>
        <p:spPr>
          <a:xfrm>
            <a:off x="768926" y="5263059"/>
            <a:ext cx="625955" cy="163413"/>
          </a:xfrm>
          <a:prstGeom prst="roundRect">
            <a:avLst>
              <a:gd fmla="val 22104" name="adj"/>
            </a:avLst>
          </a:prstGeom>
          <a:solidFill>
            <a:srgbClr val="E1E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"/>
          <p:cNvSpPr/>
          <p:nvPr/>
        </p:nvSpPr>
        <p:spPr>
          <a:xfrm>
            <a:off x="833417" y="5295305"/>
            <a:ext cx="496974" cy="98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650"/>
              <a:buFont typeface="Roboto"/>
              <a:buNone/>
            </a:pPr>
            <a:r>
              <a:rPr b="0" i="0" lang="en-US" sz="6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CLASSIFY · 7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768926" y="5454352"/>
            <a:ext cx="5219470" cy="167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050"/>
              <a:buFont typeface="Raleway"/>
              <a:buNone/>
            </a:pPr>
            <a:r>
              <a:rPr b="0" i="0" lang="en-US" sz="10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Post-Classification Overrides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768926" y="5664101"/>
            <a:ext cx="5219470" cy="141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Business logic wins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3" name="Google Shape;73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95848" y="4763195"/>
            <a:ext cx="5434373" cy="430014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2"/>
          <p:cNvSpPr/>
          <p:nvPr/>
        </p:nvSpPr>
        <p:spPr>
          <a:xfrm>
            <a:off x="6203299" y="5263059"/>
            <a:ext cx="568013" cy="163413"/>
          </a:xfrm>
          <a:prstGeom prst="roundRect">
            <a:avLst>
              <a:gd fmla="val 22104" name="adj"/>
            </a:avLst>
          </a:prstGeom>
          <a:solidFill>
            <a:srgbClr val="E1E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2"/>
          <p:cNvSpPr/>
          <p:nvPr/>
        </p:nvSpPr>
        <p:spPr>
          <a:xfrm>
            <a:off x="6267789" y="5295305"/>
            <a:ext cx="439032" cy="98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650"/>
              <a:buFont typeface="Roboto"/>
              <a:buNone/>
            </a:pPr>
            <a:r>
              <a:rPr b="0" i="0" lang="en-US" sz="6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OUTPUT · 8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6203299" y="5454352"/>
            <a:ext cx="5219470" cy="167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050"/>
              <a:buFont typeface="Raleway"/>
              <a:buNone/>
            </a:pPr>
            <a:r>
              <a:rPr b="0" i="0" lang="en-US" sz="10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Category Derivation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6203299" y="5664101"/>
            <a:ext cx="5219470" cy="141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Deterministic from intent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661475" y="5992019"/>
            <a:ext cx="10868745" cy="328116"/>
          </a:xfrm>
          <a:prstGeom prst="roundRect">
            <a:avLst>
              <a:gd fmla="val 13761" name="adj"/>
            </a:avLst>
          </a:prstGeom>
          <a:solidFill>
            <a:srgbClr val="E1E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9" name="Google Shape;79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8926" y="6133802"/>
            <a:ext cx="134339" cy="107454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2"/>
          <p:cNvSpPr/>
          <p:nvPr/>
        </p:nvSpPr>
        <p:spPr>
          <a:xfrm>
            <a:off x="1010716" y="6088658"/>
            <a:ext cx="11021638" cy="141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Steps 1–3 are Setup. Steps 4–7 are Classification. Step 8 is deterministic Output. No step is skipped — the pipeline is fully sequential.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5032500" y="6506175"/>
            <a:ext cx="7107300" cy="30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"/>
          <p:cNvSpPr/>
          <p:nvPr/>
        </p:nvSpPr>
        <p:spPr>
          <a:xfrm>
            <a:off x="661475" y="1257598"/>
            <a:ext cx="10868745" cy="4651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900"/>
              <a:buFont typeface="Raleway"/>
              <a:buNone/>
            </a:pPr>
            <a:r>
              <a:rPr b="0" i="0" lang="en-US" sz="29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Intent Taxonomy: What We're Classifying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661475" y="1990626"/>
            <a:ext cx="11478330" cy="226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50"/>
              <a:buFont typeface="Roboto"/>
              <a:buNone/>
            </a:pPr>
            <a:r>
              <a:rPr b="0" i="0" lang="en-US" sz="11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19 intents, pre-defined, grouped into four clusters. The model picks one — the system derives everything else.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661475" y="2367558"/>
            <a:ext cx="10868745" cy="2526903"/>
          </a:xfrm>
          <a:prstGeom prst="roundRect">
            <a:avLst>
              <a:gd fmla="val 2474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661475" y="2776736"/>
            <a:ext cx="10868745" cy="9304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661475" y="3421658"/>
            <a:ext cx="10868745" cy="9304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661475" y="3834011"/>
            <a:ext cx="10868745" cy="9304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661475" y="4478933"/>
            <a:ext cx="10868745" cy="9304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667825" y="2373908"/>
            <a:ext cx="5428023" cy="402828"/>
          </a:xfrm>
          <a:prstGeom prst="rect">
            <a:avLst/>
          </a:prstGeom>
          <a:solidFill>
            <a:srgbClr val="1B1B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816649" y="2460625"/>
            <a:ext cx="5739959" cy="226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Roboto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Cluster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6095848" y="2373908"/>
            <a:ext cx="5428023" cy="402828"/>
          </a:xfrm>
          <a:prstGeom prst="rect">
            <a:avLst/>
          </a:prstGeom>
          <a:solidFill>
            <a:srgbClr val="1B1B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"/>
          <p:cNvSpPr/>
          <p:nvPr/>
        </p:nvSpPr>
        <p:spPr>
          <a:xfrm>
            <a:off x="6244672" y="2460625"/>
            <a:ext cx="5739959" cy="226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Roboto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Intents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816649" y="2866628"/>
            <a:ext cx="5739959" cy="226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Roboto"/>
              <a:buNone/>
            </a:pPr>
            <a:r>
              <a:rPr b="0" i="0" lang="en-US" sz="11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📚</a:t>
            </a:r>
            <a:r>
              <a:rPr b="0" i="0" lang="en-US" sz="11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-US" sz="11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Course Info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6244672" y="2866628"/>
            <a:ext cx="5130374" cy="4651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3C393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course_list</a:t>
            </a:r>
            <a:r>
              <a:rPr b="0" i="0" lang="en-US" sz="11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b="0" i="0" lang="en-US" sz="1150" u="none" cap="none" strike="noStrike">
                <a:solidFill>
                  <a:srgbClr val="3C393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course_details</a:t>
            </a:r>
            <a:r>
              <a:rPr b="0" i="0" lang="en-US" sz="11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b="0" i="0" lang="en-US" sz="1150" u="none" cap="none" strike="noStrike">
                <a:solidFill>
                  <a:srgbClr val="3C393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course_pricing_payment</a:t>
            </a:r>
            <a:r>
              <a:rPr b="0" i="0" lang="en-US" sz="11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b="0" i="0" lang="en-US" sz="1150" u="none" cap="none" strike="noStrike">
                <a:solidFill>
                  <a:srgbClr val="3C393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course_projects</a:t>
            </a:r>
            <a:r>
              <a:rPr b="0" i="0" lang="en-US" sz="11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b="0" i="0" lang="en-US" sz="1150" u="none" cap="none" strike="noStrike">
                <a:solidFill>
                  <a:srgbClr val="3C393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course_schedule_duration</a:t>
            </a:r>
            <a:r>
              <a:rPr b="0" i="0" lang="en-US" sz="11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b="0" i="0" lang="en-US" sz="1150" u="none" cap="none" strike="noStrike">
                <a:solidFill>
                  <a:srgbClr val="3C393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career_certificate_outcomes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816649" y="3511550"/>
            <a:ext cx="5739959" cy="226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Roboto"/>
              <a:buNone/>
            </a:pPr>
            <a:r>
              <a:rPr b="0" i="0" lang="en-US" sz="11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🎯</a:t>
            </a:r>
            <a:r>
              <a:rPr b="0" i="0" lang="en-US" sz="11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-US" sz="11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Fit &amp; Eligibility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6244672" y="3511550"/>
            <a:ext cx="5739959" cy="2325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3C393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prerequisite_fit</a:t>
            </a:r>
            <a:r>
              <a:rPr b="0" i="0" lang="en-US" sz="11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b="0" i="0" lang="en-US" sz="1150" u="none" cap="none" strike="noStrike">
                <a:solidFill>
                  <a:srgbClr val="3C393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beginner_friendliness</a:t>
            </a:r>
            <a:r>
              <a:rPr b="0" i="0" lang="en-US" sz="11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b="0" i="0" lang="en-US" sz="1150" u="none" cap="none" strike="noStrike">
                <a:solidFill>
                  <a:srgbClr val="3C393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background_fit</a:t>
            </a:r>
            <a:r>
              <a:rPr b="0" i="0" lang="en-US" sz="11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b="0" i="0" lang="en-US" sz="1150" u="none" cap="none" strike="noStrike">
                <a:solidFill>
                  <a:srgbClr val="3C393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career_guidance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816649" y="3923903"/>
            <a:ext cx="5739959" cy="226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Roboto"/>
              <a:buNone/>
            </a:pPr>
            <a:r>
              <a:rPr b="0" i="0" lang="en-US" sz="11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🛎</a:t>
            </a:r>
            <a:r>
              <a:rPr b="0" i="0" lang="en-US" sz="11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-US" sz="11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Support &amp; Action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6244672" y="3923903"/>
            <a:ext cx="5130374" cy="4651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3C393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demo_trial_counseling</a:t>
            </a:r>
            <a:r>
              <a:rPr b="0" i="0" lang="en-US" sz="11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b="0" i="0" lang="en-US" sz="1150" u="none" cap="none" strike="noStrike">
                <a:solidFill>
                  <a:srgbClr val="3C393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enrollment_admission</a:t>
            </a:r>
            <a:r>
              <a:rPr b="0" i="0" lang="en-US" sz="11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b="0" i="0" lang="en-US" sz="1150" u="none" cap="none" strike="noStrike">
                <a:solidFill>
                  <a:srgbClr val="3C393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student_support_redirect</a:t>
            </a:r>
            <a:r>
              <a:rPr b="0" i="0" lang="en-US" sz="11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b="0" i="0" lang="en-US" sz="1150" u="none" cap="none" strike="noStrike">
                <a:solidFill>
                  <a:srgbClr val="3C393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instructor_info</a:t>
            </a:r>
            <a:r>
              <a:rPr b="0" i="0" lang="en-US" sz="11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b="0" i="0" lang="en-US" sz="1150" u="none" cap="none" strike="noStrike">
                <a:solidFill>
                  <a:srgbClr val="3C393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recording_access</a:t>
            </a:r>
            <a:r>
              <a:rPr b="0" i="0" lang="en-US" sz="11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b="0" i="0" lang="en-US" sz="1150" u="none" cap="none" strike="noStrike">
                <a:solidFill>
                  <a:srgbClr val="3C393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missed_class_recovery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816649" y="4568825"/>
            <a:ext cx="5739959" cy="226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Roboto"/>
              <a:buNone/>
            </a:pPr>
            <a:r>
              <a:rPr b="0" i="0" lang="en-US" sz="11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⚙️</a:t>
            </a:r>
            <a:r>
              <a:rPr b="0" i="0" lang="en-US" sz="11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-US" sz="11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System States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6244672" y="4568825"/>
            <a:ext cx="5739959" cy="2325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3C393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neutral</a:t>
            </a:r>
            <a:r>
              <a:rPr b="0" i="0" lang="en-US" sz="11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b="0" i="0" lang="en-US" sz="1150" u="none" cap="none" strike="noStrike">
                <a:solidFill>
                  <a:srgbClr val="3C393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irrelevant</a:t>
            </a:r>
            <a:r>
              <a:rPr b="0" i="0" lang="en-US" sz="11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b="0" i="0" lang="en-US" sz="1150" u="none" cap="none" strike="noStrike">
                <a:solidFill>
                  <a:srgbClr val="3C393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unknown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661475" y="5045174"/>
            <a:ext cx="10868745" cy="555129"/>
          </a:xfrm>
          <a:prstGeom prst="roundRect">
            <a:avLst>
              <a:gd fmla="val 11262" name="adj"/>
            </a:avLst>
          </a:prstGeom>
          <a:solidFill>
            <a:srgbClr val="E1E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7" name="Google Shape;10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0299" y="5253335"/>
            <a:ext cx="186031" cy="148828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3"/>
          <p:cNvSpPr/>
          <p:nvPr/>
        </p:nvSpPr>
        <p:spPr>
          <a:xfrm>
            <a:off x="1145154" y="5216327"/>
            <a:ext cx="10845826" cy="226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Roboto"/>
              <a:buNone/>
            </a:pPr>
            <a:r>
              <a:rPr b="0" i="0" lang="en-US" sz="11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 model classifies into one of these 19 intents. Category is NEVER a model output — it is derived deterministically after classification.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5084325" y="6556275"/>
            <a:ext cx="7107300" cy="30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/>
          <p:nvPr/>
        </p:nvSpPr>
        <p:spPr>
          <a:xfrm>
            <a:off x="661475" y="1079302"/>
            <a:ext cx="10868745" cy="4651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900"/>
              <a:buFont typeface="Raleway"/>
              <a:buNone/>
            </a:pPr>
            <a:r>
              <a:rPr b="0" i="0" lang="en-US" sz="29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Intent → Category: Deterministic Derivation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554321" y="1745357"/>
            <a:ext cx="5467114" cy="4033242"/>
          </a:xfrm>
          <a:prstGeom prst="roundRect">
            <a:avLst>
              <a:gd fmla="val 2657" name="adj"/>
            </a:avLst>
          </a:prstGeom>
          <a:solidFill>
            <a:srgbClr val="1B1B27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703146" y="1879302"/>
            <a:ext cx="5169465" cy="232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Raleway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Key Insight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703146" y="2245717"/>
            <a:ext cx="5169465" cy="6850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Roboto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Category is </a:t>
            </a:r>
            <a:r>
              <a:rPr b="1" i="0" lang="en-US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NEVER</a:t>
            </a:r>
            <a:r>
              <a:rPr b="0" i="0" lang="en-US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predicted by AI — it is derived deterministically from intent via the </a:t>
            </a:r>
            <a:r>
              <a:rPr b="0" i="0" lang="en-US" sz="1150" u="none" cap="none" strike="noStrike">
                <a:solidFill>
                  <a:srgbClr val="FFFFFF"/>
                </a:solidFill>
                <a:highlight>
                  <a:srgbClr val="282834"/>
                </a:highlight>
                <a:latin typeface="Consolas"/>
                <a:ea typeface="Consolas"/>
                <a:cs typeface="Consolas"/>
                <a:sym typeface="Consolas"/>
              </a:rPr>
              <a:t>INTENT_TO_CATEGORY</a:t>
            </a:r>
            <a:r>
              <a:rPr b="0" i="0" lang="en-US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map. The model has no category output. The backend computes it.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703146" y="3081437"/>
            <a:ext cx="2517712" cy="909340"/>
          </a:xfrm>
          <a:prstGeom prst="roundRect">
            <a:avLst>
              <a:gd fmla="val 6875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858320" y="3236615"/>
            <a:ext cx="2207364" cy="232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Raleway"/>
              <a:buNone/>
            </a:pPr>
            <a:r>
              <a:rPr b="0" i="0" lang="en-US" sz="145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course_pricing_payment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858320" y="3603030"/>
            <a:ext cx="2207364" cy="2325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Roboto"/>
              <a:buNone/>
            </a:pPr>
            <a:r>
              <a:rPr b="0" i="0" lang="en-US" sz="11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→ </a:t>
            </a:r>
            <a:r>
              <a:rPr b="0" i="0" lang="en-US" sz="1150" u="none" cap="none" strike="noStrike">
                <a:solidFill>
                  <a:srgbClr val="000000"/>
                </a:solidFill>
                <a:highlight>
                  <a:srgbClr val="282834"/>
                </a:highlight>
                <a:latin typeface="Consolas"/>
                <a:ea typeface="Consolas"/>
                <a:cs typeface="Consolas"/>
                <a:sym typeface="Consolas"/>
              </a:rPr>
              <a:t>"relevant"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3354800" y="3081437"/>
            <a:ext cx="2517811" cy="909340"/>
          </a:xfrm>
          <a:prstGeom prst="roundRect">
            <a:avLst>
              <a:gd fmla="val 6875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3509974" y="3236615"/>
            <a:ext cx="2207463" cy="232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Raleway"/>
              <a:buNone/>
            </a:pPr>
            <a:r>
              <a:rPr b="0" i="0" lang="en-US" sz="145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neutral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3509974" y="3603030"/>
            <a:ext cx="2207463" cy="2325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Roboto"/>
              <a:buNone/>
            </a:pPr>
            <a:r>
              <a:rPr b="0" i="0" lang="en-US" sz="11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→ </a:t>
            </a:r>
            <a:r>
              <a:rPr b="0" i="0" lang="en-US" sz="1150" u="none" cap="none" strike="noStrike">
                <a:solidFill>
                  <a:srgbClr val="000000"/>
                </a:solidFill>
                <a:highlight>
                  <a:srgbClr val="282834"/>
                </a:highlight>
                <a:latin typeface="Consolas"/>
                <a:ea typeface="Consolas"/>
                <a:cs typeface="Consolas"/>
                <a:sym typeface="Consolas"/>
              </a:rPr>
              <a:t>"neutral"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703146" y="4124722"/>
            <a:ext cx="5169465" cy="909340"/>
          </a:xfrm>
          <a:prstGeom prst="roundRect">
            <a:avLst>
              <a:gd fmla="val 6875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858320" y="4279900"/>
            <a:ext cx="4859117" cy="232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Raleway"/>
              <a:buNone/>
            </a:pPr>
            <a:r>
              <a:rPr b="0" i="0" lang="en-US" sz="145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irrelevant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858320" y="4646315"/>
            <a:ext cx="4859117" cy="2325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Roboto"/>
              <a:buNone/>
            </a:pPr>
            <a:r>
              <a:rPr b="0" i="0" lang="en-US" sz="11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→ </a:t>
            </a:r>
            <a:r>
              <a:rPr b="0" i="0" lang="en-US" sz="1150" u="none" cap="none" strike="noStrike">
                <a:solidFill>
                  <a:srgbClr val="000000"/>
                </a:solidFill>
                <a:highlight>
                  <a:srgbClr val="282834"/>
                </a:highlight>
                <a:latin typeface="Consolas"/>
                <a:ea typeface="Consolas"/>
                <a:cs typeface="Consolas"/>
                <a:sym typeface="Consolas"/>
              </a:rPr>
              <a:t>"irrelevant"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6283763" y="1879302"/>
            <a:ext cx="5252807" cy="232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450"/>
              <a:buFont typeface="Raleway"/>
              <a:buNone/>
            </a:pPr>
            <a:r>
              <a:rPr b="0" i="0" lang="en-US" sz="14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intent_taxonomy.py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6283763" y="2262485"/>
            <a:ext cx="5252807" cy="2559844"/>
          </a:xfrm>
          <a:prstGeom prst="roundRect">
            <a:avLst>
              <a:gd fmla="val 2442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6276322" y="2262485"/>
            <a:ext cx="5267689" cy="2559844"/>
          </a:xfrm>
          <a:prstGeom prst="roundRect">
            <a:avLst>
              <a:gd fmla="val 872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6462352" y="2411313"/>
            <a:ext cx="4895628" cy="22621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def category_for_intent(intent: str) -&gt; str: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    return INTENT_TO_CATEGORY.get(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        intent,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        "unknown"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    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# e.g.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# "course_pricing_payment" → "relevant"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# "neutral"               → "neutral"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# "irrelevant"            → "irrelevant"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6283763" y="4973042"/>
            <a:ext cx="5252807" cy="6850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50"/>
              <a:buFont typeface="Roboto"/>
              <a:buNone/>
            </a:pPr>
            <a:r>
              <a:rPr b="0" i="0" lang="en-US" sz="11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The </a:t>
            </a:r>
            <a:r>
              <a:rPr b="0" i="0" lang="en-US" sz="1150" u="none" cap="none" strike="noStrike">
                <a:solidFill>
                  <a:srgbClr val="3C393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INTENT_TO_CATEGORY</a:t>
            </a:r>
            <a:r>
              <a:rPr b="0" i="0" lang="en-US" sz="11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map is a static dictionary. No inference, no model call — a pure dictionary lookup. This makes category derivation auditable, testable, and zero-latency.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5084325" y="6556275"/>
            <a:ext cx="7107300" cy="30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"/>
          <p:cNvSpPr/>
          <p:nvPr/>
        </p:nvSpPr>
        <p:spPr>
          <a:xfrm>
            <a:off x="661475" y="661591"/>
            <a:ext cx="10868745" cy="335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100"/>
              <a:buFont typeface="Raleway"/>
              <a:buNone/>
            </a:pPr>
            <a:r>
              <a:rPr b="0" i="0" lang="en-US" sz="21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Scope Resolution &amp; The Allowed-Intent Gate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661475" y="1137245"/>
            <a:ext cx="11478330" cy="141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Before any AI runs, the system resolves </a:t>
            </a:r>
            <a:r>
              <a:rPr b="1" i="0" lang="en-US" sz="8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who is asking</a:t>
            </a:r>
            <a:r>
              <a:rPr b="0" i="0" lang="en-US" sz="8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and </a:t>
            </a:r>
            <a:r>
              <a:rPr b="1" i="0" lang="en-US" sz="8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what they're allowed to ask</a:t>
            </a:r>
            <a:r>
              <a:rPr b="0" i="0" lang="en-US" sz="8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. The model is constrained before it ever sees the message.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661475" y="1427559"/>
            <a:ext cx="5080667" cy="167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050"/>
              <a:buFont typeface="Raleway"/>
              <a:buNone/>
            </a:pPr>
            <a:r>
              <a:rPr b="0" i="0" lang="en-US" sz="10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business_profiles.py — EDTECH_PROFILE (condensed)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661475" y="1674019"/>
            <a:ext cx="5080667" cy="2343150"/>
          </a:xfrm>
          <a:prstGeom prst="roundRect">
            <a:avLst>
              <a:gd fmla="val 192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656117" y="1674019"/>
            <a:ext cx="5091382" cy="2343150"/>
          </a:xfrm>
          <a:prstGeom prst="roundRect">
            <a:avLst>
              <a:gd fmla="val 688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790456" y="1781473"/>
            <a:ext cx="4822704" cy="2128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EDTECH_PROFILE = BusinessTypeProfile(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    business_type="edtech",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    allowed_intents=frozenset({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        "course_list",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        "prerequisite_fit",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        "course_pricing_payment",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        "career_guidance",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        "enrollment_admission",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        "demo_trial_counseling",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        ...  # 16 domain intents total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    }),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    platform_intents=frozenset({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        "neutral", "unknown", "irrelevant"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    }),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661475" y="4095750"/>
            <a:ext cx="5080667" cy="167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050"/>
              <a:buFont typeface="Raleway"/>
              <a:buNone/>
            </a:pPr>
            <a:r>
              <a:rPr b="0" i="0" lang="en-US" sz="10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chat_orchestrator.py — The Gate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661475" y="4342209"/>
            <a:ext cx="5080667" cy="1775619"/>
          </a:xfrm>
          <a:prstGeom prst="roundRect">
            <a:avLst>
              <a:gd fmla="val 2543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656117" y="4342209"/>
            <a:ext cx="5091382" cy="1775619"/>
          </a:xfrm>
          <a:prstGeom prst="roundRect">
            <a:avLst>
              <a:gd fmla="val 908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790456" y="4449663"/>
            <a:ext cx="4822704" cy="15607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if outcome.result.intent \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        not in profile.all_intents: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    outcome = replace(outcome,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        result=IntentClassification(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            intent="unknown",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            confidence="low",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            reason=f"Intent "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                   f"{outcome.result.intent}"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                   f" is outside the "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                   f"trusted profile.",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        ))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6010621" y="1427559"/>
            <a:ext cx="5525850" cy="167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050"/>
              <a:buFont typeface="Raleway"/>
              <a:buNone/>
            </a:pPr>
            <a:r>
              <a:rPr b="0" i="0" lang="en-US" sz="10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Gate Filter: How It Works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0" name="Google Shape;15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10621" y="1674019"/>
            <a:ext cx="3591728" cy="2020391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5"/>
          <p:cNvSpPr/>
          <p:nvPr/>
        </p:nvSpPr>
        <p:spPr>
          <a:xfrm>
            <a:off x="6010621" y="3772991"/>
            <a:ext cx="5525850" cy="462955"/>
          </a:xfrm>
          <a:prstGeom prst="roundRect">
            <a:avLst>
              <a:gd fmla="val 9753" name="adj"/>
            </a:avLst>
          </a:prstGeom>
          <a:solidFill>
            <a:srgbClr val="E1E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2" name="Google Shape;15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18072" y="3921125"/>
            <a:ext cx="134339" cy="107454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5"/>
          <p:cNvSpPr/>
          <p:nvPr/>
        </p:nvSpPr>
        <p:spPr>
          <a:xfrm>
            <a:off x="6359862" y="3862586"/>
            <a:ext cx="5069158" cy="2837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 model can only return intents the business profile permits. Anything outside the </a:t>
            </a:r>
            <a:r>
              <a:rPr b="0" i="0" lang="en-US" sz="800" u="none" cap="none" strike="noStrike">
                <a:solidFill>
                  <a:srgbClr val="000000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frozenset</a:t>
            </a:r>
            <a:r>
              <a:rPr b="0" i="0" lang="en-US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is hard-rejected to </a:t>
            </a:r>
            <a:r>
              <a:rPr b="0" i="0" lang="en-US" sz="800" u="none" cap="none" strike="noStrike">
                <a:solidFill>
                  <a:srgbClr val="000000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unknown</a:t>
            </a:r>
            <a:r>
              <a:rPr b="0" i="0" lang="en-US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5084325" y="6556275"/>
            <a:ext cx="7107300" cy="30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"/>
          <p:cNvSpPr/>
          <p:nvPr/>
        </p:nvSpPr>
        <p:spPr>
          <a:xfrm>
            <a:off x="661475" y="516334"/>
            <a:ext cx="10868745" cy="278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750"/>
              <a:buFont typeface="Raleway"/>
              <a:buNone/>
            </a:pPr>
            <a:r>
              <a:rPr b="0" i="0" lang="en-US" sz="17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AI Classification Path: The Happy Path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661475" y="890290"/>
            <a:ext cx="11478330" cy="109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00"/>
              <a:buFont typeface="Roboto"/>
              <a:buNone/>
            </a:pPr>
            <a:r>
              <a:rPr b="0" i="0" lang="en-US" sz="7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When AI is available, the LLM classifies against a </a:t>
            </a:r>
            <a:r>
              <a:rPr b="1" i="0" lang="en-US" sz="7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runtime-scoped JSON schema</a:t>
            </a:r>
            <a:r>
              <a:rPr b="0" i="0" lang="en-US" sz="7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— the enum is built from the active profile, not hardcoded.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661475" y="1101527"/>
            <a:ext cx="5880052" cy="139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850"/>
              <a:buFont typeface="Raleway"/>
              <a:buNone/>
            </a:pPr>
            <a:r>
              <a:rPr b="0" i="0" lang="en-US" sz="8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main.py — classify_intent_with_llm() (key parts)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661475" y="1294507"/>
            <a:ext cx="5880052" cy="4993283"/>
          </a:xfrm>
          <a:prstGeom prst="roundRect">
            <a:avLst>
              <a:gd fmla="val 749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657109" y="1294507"/>
            <a:ext cx="5888783" cy="4993283"/>
          </a:xfrm>
          <a:prstGeom prst="roundRect">
            <a:avLst>
              <a:gd fmla="val 2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"/>
          <p:cNvSpPr/>
          <p:nvPr/>
        </p:nvSpPr>
        <p:spPr>
          <a:xfrm>
            <a:off x="768331" y="1383506"/>
            <a:ext cx="5666340" cy="48152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6A737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# 1. Scope enum to only allowed intents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6A737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active_intents = tuple(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6A737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i for i in INTENTS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6A737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if i in allowed_intents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6A737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6A737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# 2. Build JSON schema at runtime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6A737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schema = {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6A737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"properties": {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6A737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    "intent": {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6A737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        "type": "string",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6A737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        "enum": list(active_intents)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6A737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    },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6A737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    "confidence": {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6A737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        "enum": ["high", "medium", "low"]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6A737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    },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6A737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    "reason": {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6A737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        "type": "string",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6A737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        "maxLength": 160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6A737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    },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6A737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},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6A737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"additionalProperties": False,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6A737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6A737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# 3. System prompt — strict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6A737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system = (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6A737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"Classify the user's message using "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6A737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"the supported intent taxonomy. "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6A737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"Do not answer the user. "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6A737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"Do not predict a separate "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6A737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"relevance/category label — "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6A737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"the backend derives that "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6A737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"deterministically from the "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6A737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"chosen intent. "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6A737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"Use unknown when no supported "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6A737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"intent precisely covers the message."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6A737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6A737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# 4. Low confidence → force unknown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6A737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if parsed.confidence == "low":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6A737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return IntentClassification(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6A737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    intent="unknown",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6A737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    confidence="low", ...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6A737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)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6700868" y="1053604"/>
            <a:ext cx="4899696" cy="5288062"/>
          </a:xfrm>
          <a:prstGeom prst="roundRect">
            <a:avLst>
              <a:gd fmla="val 1308" name="adj"/>
            </a:avLst>
          </a:prstGeom>
          <a:solidFill>
            <a:srgbClr val="1B1B27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6789865" y="1101527"/>
            <a:ext cx="4721702" cy="139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Raleway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Design Guarantees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8" name="Google Shape;16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89865" y="1294507"/>
            <a:ext cx="4721702" cy="615652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6"/>
          <p:cNvSpPr/>
          <p:nvPr/>
        </p:nvSpPr>
        <p:spPr>
          <a:xfrm>
            <a:off x="6942361" y="1396206"/>
            <a:ext cx="4467510" cy="139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Raleway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Structural Constraint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6942361" y="1583234"/>
            <a:ext cx="4467510" cy="225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Roboto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JSON schema </a:t>
            </a:r>
            <a:r>
              <a:rPr b="0" i="0" lang="en-US" sz="700" u="none" cap="none" strike="noStrike">
                <a:solidFill>
                  <a:srgbClr val="FFFFFF"/>
                </a:solidFill>
                <a:highlight>
                  <a:srgbClr val="282834"/>
                </a:highlight>
                <a:latin typeface="Consolas"/>
                <a:ea typeface="Consolas"/>
                <a:cs typeface="Consolas"/>
                <a:sym typeface="Consolas"/>
              </a:rPr>
              <a:t>enum</a:t>
            </a:r>
            <a:r>
              <a:rPr b="0" i="0" lang="en-US" sz="7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is built at runtime from the active profile — the model structurally </a:t>
            </a:r>
            <a:r>
              <a:rPr b="1" i="0" lang="en-US" sz="7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cannot</a:t>
            </a:r>
            <a:r>
              <a:rPr b="0" i="0" lang="en-US" sz="7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hallucinate out-of-taxonomy intents.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1" name="Google Shape;17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89865" y="1958082"/>
            <a:ext cx="4721702" cy="499864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6"/>
          <p:cNvSpPr/>
          <p:nvPr/>
        </p:nvSpPr>
        <p:spPr>
          <a:xfrm>
            <a:off x="6942361" y="2059781"/>
            <a:ext cx="4467510" cy="139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Raleway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No Category Prediction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6942361" y="2246809"/>
            <a:ext cx="4467510" cy="109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Roboto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System prompt explicitly forbids category output. Backend derives it deterministically.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4" name="Google Shape;174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89865" y="2505869"/>
            <a:ext cx="4721702" cy="50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6"/>
          <p:cNvSpPr/>
          <p:nvPr/>
        </p:nvSpPr>
        <p:spPr>
          <a:xfrm>
            <a:off x="6942361" y="2607568"/>
            <a:ext cx="4467510" cy="139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Raleway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Low Confidence → unknown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6942361" y="2794595"/>
            <a:ext cx="4467510" cy="1157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Roboto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 shaky prediction is never trusted. Forced to </a:t>
            </a:r>
            <a:r>
              <a:rPr b="0" i="0" lang="en-US" sz="700" u="none" cap="none" strike="noStrike">
                <a:solidFill>
                  <a:srgbClr val="FFFFFF"/>
                </a:solidFill>
                <a:highlight>
                  <a:srgbClr val="282834"/>
                </a:highlight>
                <a:latin typeface="Consolas"/>
                <a:ea typeface="Consolas"/>
                <a:cs typeface="Consolas"/>
                <a:sym typeface="Consolas"/>
              </a:rPr>
              <a:t>unknown</a:t>
            </a:r>
            <a:r>
              <a:rPr b="0" i="0" lang="en-US" sz="7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before the gate.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6789865" y="3065959"/>
            <a:ext cx="4721702" cy="139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Raleway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Running Example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6789865" y="3252986"/>
            <a:ext cx="4721702" cy="3840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Roboto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"ML course er price koto?"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Roboto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→ </a:t>
            </a:r>
            <a:r>
              <a:rPr b="1" i="0" lang="en-US" sz="7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intent:</a:t>
            </a:r>
            <a:r>
              <a:rPr b="0" i="0" lang="en-US" sz="7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en-US" sz="700" u="none" cap="none" strike="noStrike">
                <a:solidFill>
                  <a:srgbClr val="FFFFFF"/>
                </a:solidFill>
                <a:highlight>
                  <a:srgbClr val="282834"/>
                </a:highlight>
                <a:latin typeface="Consolas"/>
                <a:ea typeface="Consolas"/>
                <a:cs typeface="Consolas"/>
                <a:sym typeface="Consolas"/>
              </a:rPr>
              <a:t>course_pricing_payment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Roboto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→ </a:t>
            </a:r>
            <a:r>
              <a:rPr b="1" i="0" lang="en-US" sz="7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confidence:</a:t>
            </a:r>
            <a:r>
              <a:rPr b="0" i="0" lang="en-US" sz="7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en-US" sz="700" u="none" cap="none" strike="noStrike">
                <a:solidFill>
                  <a:srgbClr val="FFFFFF"/>
                </a:solidFill>
                <a:highlight>
                  <a:srgbClr val="282834"/>
                </a:highlight>
                <a:latin typeface="Consolas"/>
                <a:ea typeface="Consolas"/>
                <a:cs typeface="Consolas"/>
                <a:sym typeface="Consolas"/>
              </a:rPr>
              <a:t>high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5084325" y="6556275"/>
            <a:ext cx="7107300" cy="30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"/>
          <p:cNvSpPr/>
          <p:nvPr/>
        </p:nvSpPr>
        <p:spPr>
          <a:xfrm>
            <a:off x="661475" y="493514"/>
            <a:ext cx="1086874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050"/>
              <a:buFont typeface="Raleway"/>
              <a:buNone/>
            </a:pPr>
            <a:r>
              <a:rPr b="0" i="0" lang="en-US" sz="20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Fallback Chain: When AI Fails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661475" y="950020"/>
            <a:ext cx="11478330" cy="142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Two failure modes, two fallback levels. A valid AI </a:t>
            </a:r>
            <a:r>
              <a:rPr b="0" i="0" lang="en-US" sz="800" u="none" cap="none" strike="noStrike">
                <a:solidFill>
                  <a:srgbClr val="3C393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unknown</a:t>
            </a:r>
            <a:r>
              <a:rPr b="0" i="0" lang="en-US" sz="8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b="1" i="0" lang="en-US" sz="8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not</a:t>
            </a:r>
            <a:r>
              <a:rPr b="0" i="0" lang="en-US" sz="8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a failure — it is preserved as-is.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661475" y="1231305"/>
            <a:ext cx="5529819" cy="1627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000"/>
              <a:buFont typeface="Raleway"/>
              <a:buNone/>
            </a:pPr>
            <a:r>
              <a:rPr b="0" i="0" lang="en-US" sz="10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main.py — classify_intent() fallback chain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661475" y="1467743"/>
            <a:ext cx="5529819" cy="4823023"/>
          </a:xfrm>
          <a:prstGeom prst="roundRect">
            <a:avLst>
              <a:gd fmla="val 90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656316" y="1467743"/>
            <a:ext cx="5540137" cy="4823023"/>
          </a:xfrm>
          <a:prstGeom prst="roundRect">
            <a:avLst>
              <a:gd fmla="val 324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786487" y="1571823"/>
            <a:ext cx="5279794" cy="4614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async def classify_intent(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text,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allowed_intents=None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):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# Level 1: No API key → local immediately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if not OPENAI_API_KEY: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    return local_fallback_outcome(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        text,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        "No API key",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        allowed_intents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    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try: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    result = await classify_intent_with_llm(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        text, allowed_intents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    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    return ClassificationOutcome(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        result=result,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        source="ai",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        status="success"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    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except Exception as exc: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    # Level 2: Exception → local if enabled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    if intent_fallback_enabled():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        return local_fallback_outcome(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            text, str(exc), allowed_intents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        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    return ClassificationOutcome(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        result=fallback_classification(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            str(exc)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        ),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        source="ai",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        status="failed"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    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6451637" y="1231305"/>
            <a:ext cx="5084834" cy="1627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000"/>
              <a:buFont typeface="Raleway"/>
              <a:buNone/>
            </a:pPr>
            <a:r>
              <a:rPr b="0" i="0" lang="en-US" sz="10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Sample EDTECH_INTENT_KEYWORDS Rules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6451637" y="1467743"/>
            <a:ext cx="5084834" cy="1198563"/>
          </a:xfrm>
          <a:prstGeom prst="roundRect">
            <a:avLst>
              <a:gd fmla="val 3649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"/>
          <p:cNvSpPr/>
          <p:nvPr/>
        </p:nvSpPr>
        <p:spPr>
          <a:xfrm>
            <a:off x="6451637" y="1704280"/>
            <a:ext cx="5084834" cy="6509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"/>
          <p:cNvSpPr/>
          <p:nvPr/>
        </p:nvSpPr>
        <p:spPr>
          <a:xfrm>
            <a:off x="6451637" y="1943993"/>
            <a:ext cx="5084834" cy="6509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"/>
          <p:cNvSpPr/>
          <p:nvPr/>
        </p:nvSpPr>
        <p:spPr>
          <a:xfrm>
            <a:off x="6451637" y="2183705"/>
            <a:ext cx="5084834" cy="6509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6451637" y="2423418"/>
            <a:ext cx="5084834" cy="6509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7"/>
          <p:cNvSpPr/>
          <p:nvPr/>
        </p:nvSpPr>
        <p:spPr>
          <a:xfrm>
            <a:off x="6457987" y="1474093"/>
            <a:ext cx="2536067" cy="230187"/>
          </a:xfrm>
          <a:prstGeom prst="rect">
            <a:avLst/>
          </a:prstGeom>
          <a:solidFill>
            <a:srgbClr val="1B1B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"/>
          <p:cNvSpPr/>
          <p:nvPr/>
        </p:nvSpPr>
        <p:spPr>
          <a:xfrm>
            <a:off x="6562065" y="1519734"/>
            <a:ext cx="2937496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oboto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Intent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8994054" y="1474093"/>
            <a:ext cx="2536067" cy="230187"/>
          </a:xfrm>
          <a:prstGeom prst="rect">
            <a:avLst/>
          </a:prstGeom>
          <a:solidFill>
            <a:srgbClr val="1B1B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7"/>
          <p:cNvSpPr/>
          <p:nvPr/>
        </p:nvSpPr>
        <p:spPr>
          <a:xfrm>
            <a:off x="9098132" y="1519734"/>
            <a:ext cx="2937496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oboto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Trigger Keywords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6562065" y="1753096"/>
            <a:ext cx="2937496" cy="142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3C393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demo_trial_counseling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9098132" y="1753096"/>
            <a:ext cx="2937496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"human", "counselor", "call me", "phone"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6562065" y="1992809"/>
            <a:ext cx="2937496" cy="142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3C393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course_pricing_payment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9098132" y="1992809"/>
            <a:ext cx="2937496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"price", "fee", "cost", "payment", "installment"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6562065" y="2232521"/>
            <a:ext cx="2937496" cy="142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3C393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recording_access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9098132" y="2232521"/>
            <a:ext cx="2937496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"record", "recording", "recorded", "lms"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6562065" y="2472234"/>
            <a:ext cx="2937496" cy="142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3C393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course_schedule_duration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9098132" y="2472234"/>
            <a:ext cx="2937496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"schedule", "batch", "duration", "class kobe"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6451637" y="2740025"/>
            <a:ext cx="5084834" cy="441325"/>
          </a:xfrm>
          <a:prstGeom prst="roundRect">
            <a:avLst>
              <a:gd fmla="val 9911" name="adj"/>
            </a:avLst>
          </a:prstGeom>
          <a:solidFill>
            <a:srgbClr val="E1E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0" name="Google Shape;21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5715" y="2880618"/>
            <a:ext cx="130172" cy="10408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7"/>
          <p:cNvSpPr/>
          <p:nvPr/>
        </p:nvSpPr>
        <p:spPr>
          <a:xfrm>
            <a:off x="6789965" y="2824956"/>
            <a:ext cx="4642428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Local classification is deterministic, zero-cost, and always available — it is the safety net, not the primary path.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2" name="Google Shape;21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41508" y="3255070"/>
            <a:ext cx="3305092" cy="248423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7"/>
          <p:cNvSpPr/>
          <p:nvPr/>
        </p:nvSpPr>
        <p:spPr>
          <a:xfrm>
            <a:off x="8691342" y="4376515"/>
            <a:ext cx="602742" cy="4134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Raleway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Two‑Level Fallback Flow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9593004" y="5034249"/>
            <a:ext cx="896686" cy="275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50"/>
              <a:buFont typeface="Raleway"/>
              <a:buNone/>
            </a:pPr>
            <a:r>
              <a:rPr b="0" i="0" lang="en-US" sz="8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Level 2: AI Exception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9593004" y="5349103"/>
            <a:ext cx="896686" cy="179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650"/>
              <a:buFont typeface="Roboto"/>
              <a:buNone/>
            </a:pPr>
            <a:r>
              <a:rPr b="0" i="0" lang="en-US" sz="6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Fallback enabled routes locally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7490760" y="5103161"/>
            <a:ext cx="896685" cy="1378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50"/>
              <a:buFont typeface="Raleway"/>
              <a:buNone/>
            </a:pPr>
            <a:r>
              <a:rPr b="0" i="0" lang="en-US" sz="8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Valid AI Unknown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7490760" y="5280191"/>
            <a:ext cx="896685" cy="179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650"/>
              <a:buFont typeface="Roboto"/>
              <a:buNone/>
            </a:pPr>
            <a:r>
              <a:rPr b="0" i="0" lang="en-US" sz="6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Preserve unchanged as valid unknown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8529631" y="3404846"/>
            <a:ext cx="921187" cy="275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50"/>
              <a:buFont typeface="Raleway"/>
              <a:buNone/>
            </a:pPr>
            <a:r>
              <a:rPr b="0" i="0" lang="en-US" sz="8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Level 1: No API Key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8529631" y="3719700"/>
            <a:ext cx="921187" cy="179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650"/>
              <a:buFont typeface="Roboto"/>
              <a:buNone/>
            </a:pPr>
            <a:r>
              <a:rPr b="0" i="0" lang="en-US" sz="6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Direct to local keyword classifier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5084325" y="6556275"/>
            <a:ext cx="7107300" cy="30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8"/>
          <p:cNvSpPr/>
          <p:nvPr/>
        </p:nvSpPr>
        <p:spPr>
          <a:xfrm>
            <a:off x="661475" y="499269"/>
            <a:ext cx="10868745" cy="309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950"/>
              <a:buFont typeface="Raleway"/>
              <a:buNone/>
            </a:pPr>
            <a:r>
              <a:rPr b="0" i="0" lang="en-US" sz="19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Post-Classification Overrides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661475" y="927695"/>
            <a:ext cx="11478330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50"/>
              <a:buFont typeface="Roboto"/>
              <a:buNone/>
            </a:pPr>
            <a:r>
              <a:rPr b="0" i="0" lang="en-US" sz="7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After the model classifies, business logic gets the final word. Three override rules, applied in sequence, always win over model output.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661475" y="1180604"/>
            <a:ext cx="5869039" cy="1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950"/>
              <a:buFont typeface="Raleway"/>
              <a:buNone/>
            </a:pPr>
            <a:r>
              <a:rPr b="0" i="0" lang="en-US" sz="9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chat_orchestrator.py — inside plan_reply(), after classification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661475" y="1402259"/>
            <a:ext cx="5869039" cy="4889698"/>
          </a:xfrm>
          <a:prstGeom prst="roundRect">
            <a:avLst>
              <a:gd fmla="val 851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8"/>
          <p:cNvSpPr/>
          <p:nvPr/>
        </p:nvSpPr>
        <p:spPr>
          <a:xfrm>
            <a:off x="656613" y="1402259"/>
            <a:ext cx="5878762" cy="4889698"/>
          </a:xfrm>
          <a:prstGeom prst="roundRect">
            <a:avLst>
              <a:gd fmla="val 304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8"/>
          <p:cNvSpPr/>
          <p:nvPr/>
        </p:nvSpPr>
        <p:spPr>
          <a:xfrm>
            <a:off x="780435" y="1501279"/>
            <a:ext cx="5631119" cy="46916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# Override 1: Acknowledgement → force neutral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if dialogue_act == "acknowledgement" \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    and "neutral" in profile.all_intents: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outcome = replace(outcome,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    result=IntentClassification(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        intent="neutral",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        confidence="high",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        reason="Acknowledgement dialogue act."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    ))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t/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# Override 2: Explicit course list → force course_list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if is_explicit_course_list_request(text) and \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outcome.result.intent in {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   "course_list", "career_guidance",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   "neutral", "unknown"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}: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outcome = replace(outcome,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    result=IntentClassification(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        intent="course_list",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        confidence="high",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        reason="Explicit catalog request."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    ))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t/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# Override 3: Confused/hesitant → career_guidance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if constraint_update.state \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    .decision_support_state in {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        "confused", "hesitant"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    } and outcome.result.intent in {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        "neutral", "unknown"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    }: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outcome = replace(outcome,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    result=IntentClassification(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        intent="career_guidance",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        confidence="high",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        reason="Customer requested "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               "decision support."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    ))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6707218" y="1121271"/>
            <a:ext cx="4900589" cy="5237460"/>
          </a:xfrm>
          <a:prstGeom prst="roundRect">
            <a:avLst>
              <a:gd fmla="val 1456" name="adj"/>
            </a:avLst>
          </a:prstGeom>
          <a:solidFill>
            <a:srgbClr val="1B1B27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8"/>
          <p:cNvSpPr/>
          <p:nvPr/>
        </p:nvSpPr>
        <p:spPr>
          <a:xfrm>
            <a:off x="6806236" y="1180604"/>
            <a:ext cx="4702553" cy="1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aleway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Override Layer Flow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4" name="Google Shape;23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06236" y="1402259"/>
            <a:ext cx="297252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8"/>
          <p:cNvSpPr/>
          <p:nvPr/>
        </p:nvSpPr>
        <p:spPr>
          <a:xfrm>
            <a:off x="7162819" y="1501279"/>
            <a:ext cx="4345970" cy="1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aleway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Classifier Output Enters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7162819" y="1715492"/>
            <a:ext cx="4345970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Roboto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Raw intent from AI or local fallback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7" name="Google Shape;23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54862" y="2056209"/>
            <a:ext cx="297252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8"/>
          <p:cNvSpPr/>
          <p:nvPr/>
        </p:nvSpPr>
        <p:spPr>
          <a:xfrm>
            <a:off x="7311445" y="2155230"/>
            <a:ext cx="4197344" cy="161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aleway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Override 1: Ack → </a:t>
            </a:r>
            <a:r>
              <a:rPr b="0" i="0" lang="en-US" sz="950" u="none" cap="none" strike="noStrike">
                <a:solidFill>
                  <a:srgbClr val="FFFFFF"/>
                </a:solidFill>
                <a:highlight>
                  <a:srgbClr val="282834"/>
                </a:highlight>
                <a:latin typeface="Consolas"/>
                <a:ea typeface="Consolas"/>
                <a:cs typeface="Consolas"/>
                <a:sym typeface="Consolas"/>
              </a:rPr>
              <a:t>neutral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7311445" y="2375793"/>
            <a:ext cx="4197344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Roboto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Dialogue act = acknowledgement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0" name="Google Shape;24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03488" y="2710160"/>
            <a:ext cx="297252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8"/>
          <p:cNvSpPr/>
          <p:nvPr/>
        </p:nvSpPr>
        <p:spPr>
          <a:xfrm>
            <a:off x="7460071" y="2809180"/>
            <a:ext cx="4048718" cy="161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aleway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Override 2: Catalog → </a:t>
            </a:r>
            <a:r>
              <a:rPr b="0" i="0" lang="en-US" sz="950" u="none" cap="none" strike="noStrike">
                <a:solidFill>
                  <a:srgbClr val="FFFFFF"/>
                </a:solidFill>
                <a:highlight>
                  <a:srgbClr val="282834"/>
                </a:highlight>
                <a:latin typeface="Consolas"/>
                <a:ea typeface="Consolas"/>
                <a:cs typeface="Consolas"/>
                <a:sym typeface="Consolas"/>
              </a:rPr>
              <a:t>course_list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7460071" y="3029744"/>
            <a:ext cx="4048718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Roboto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Explicit course list request detected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3" name="Google Shape;24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52114" y="3364111"/>
            <a:ext cx="297252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8"/>
          <p:cNvSpPr/>
          <p:nvPr/>
        </p:nvSpPr>
        <p:spPr>
          <a:xfrm>
            <a:off x="7608697" y="3463131"/>
            <a:ext cx="3900092" cy="161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aleway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Override 3: Confused → </a:t>
            </a:r>
            <a:r>
              <a:rPr b="0" i="0" lang="en-US" sz="950" u="none" cap="none" strike="noStrike">
                <a:solidFill>
                  <a:srgbClr val="FFFFFF"/>
                </a:solidFill>
                <a:highlight>
                  <a:srgbClr val="282834"/>
                </a:highlight>
                <a:latin typeface="Consolas"/>
                <a:ea typeface="Consolas"/>
                <a:cs typeface="Consolas"/>
                <a:sym typeface="Consolas"/>
              </a:rPr>
              <a:t>career_guidance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7608697" y="3683695"/>
            <a:ext cx="3900092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Roboto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Decision support state = confused/hesitant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6" name="Google Shape;24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03488" y="4018062"/>
            <a:ext cx="297252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8"/>
          <p:cNvSpPr/>
          <p:nvPr/>
        </p:nvSpPr>
        <p:spPr>
          <a:xfrm>
            <a:off x="7460071" y="4117082"/>
            <a:ext cx="4048718" cy="1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aleway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Final Intent Exits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7460071" y="4331295"/>
            <a:ext cx="4048718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Roboto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Business logic always wins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6806236" y="4679454"/>
            <a:ext cx="4702553" cy="282972"/>
          </a:xfrm>
          <a:prstGeom prst="roundRect">
            <a:avLst>
              <a:gd fmla="val 14710" name="adj"/>
            </a:avLst>
          </a:prstGeom>
          <a:solidFill>
            <a:srgbClr val="3434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0" name="Google Shape;25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05254" y="4805363"/>
            <a:ext cx="123822" cy="9902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8"/>
          <p:cNvSpPr/>
          <p:nvPr/>
        </p:nvSpPr>
        <p:spPr>
          <a:xfrm>
            <a:off x="7128094" y="4757539"/>
            <a:ext cx="4891263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Roboto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Overrides are business logic, not model logic. They run after classification and always win.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5084325" y="6556275"/>
            <a:ext cx="7107300" cy="30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9"/>
          <p:cNvSpPr/>
          <p:nvPr/>
        </p:nvSpPr>
        <p:spPr>
          <a:xfrm>
            <a:off x="661475" y="516334"/>
            <a:ext cx="10868745" cy="278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750"/>
              <a:buFont typeface="Raleway"/>
              <a:buNone/>
            </a:pPr>
            <a:r>
              <a:rPr b="0" i="0" lang="en-US" sz="17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End-to-End: One Message In, One Intent Out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661475" y="890290"/>
            <a:ext cx="11478330" cy="109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00"/>
              <a:buFont typeface="Roboto"/>
              <a:buNone/>
            </a:pPr>
            <a:r>
              <a:rPr b="0" i="0" lang="en-US" sz="7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Running example: </a:t>
            </a:r>
            <a:r>
              <a:rPr b="1" i="0" lang="en-US" sz="7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"ML course er price koto?"</a:t>
            </a:r>
            <a:r>
              <a:rPr b="0" i="0" lang="en-US" sz="7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— traced through every pipeline step.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661475" y="1101527"/>
            <a:ext cx="5325830" cy="139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850"/>
              <a:buFont typeface="Raleway"/>
              <a:buNone/>
            </a:pPr>
            <a:r>
              <a:rPr b="0" i="0" lang="en-US" sz="8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Full Trace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661475" y="1294507"/>
            <a:ext cx="5325830" cy="4993283"/>
          </a:xfrm>
          <a:prstGeom prst="roundRect">
            <a:avLst>
              <a:gd fmla="val 749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9"/>
          <p:cNvSpPr/>
          <p:nvPr/>
        </p:nvSpPr>
        <p:spPr>
          <a:xfrm>
            <a:off x="657109" y="1294507"/>
            <a:ext cx="5334561" cy="4993283"/>
          </a:xfrm>
          <a:prstGeom prst="roundRect">
            <a:avLst>
              <a:gd fmla="val 2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9"/>
          <p:cNvSpPr/>
          <p:nvPr/>
        </p:nvSpPr>
        <p:spPr>
          <a:xfrm>
            <a:off x="768331" y="1383506"/>
            <a:ext cx="5112118" cy="48152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User: "ML course er price koto?"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│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├─ resolve scope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│   → BusinessTypeProfile(edtech)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│   → KnowledgeBaseBundle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│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├─ detect dialogue act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│   → None (not greeting/acknowledgement)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│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├─ classifier(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│     "ML course er price koto?",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│     mode="ai",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│     allowed=edtech_allowed_intents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│   )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│   ├─ classify_intent_with_llm()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│   │   → JSON schema {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│   │       intent: enum[intents],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│   │       confidence, reason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│   │     }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│   │   → response: {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│   │       intent: "course_pricing_payment",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│   │       confidence: "high"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│   │     }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│   └─ returns IntentClassification(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│         intent="course_pricing_payment"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│       )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│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├─ allowed-intent gate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│   → course_pricing_payment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│      ∈ edtech_allowed_intents ✓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│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├─ post-classification overrides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│   → none triggered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│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└─ outcome: ClassificationOutcome(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      result=intent="course_pricing_payment",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      source="ai",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      status="success"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   )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│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▼ [CourseQueryResolver + CatalogMatcher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   + ReplyGenerator]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→ "ML for NLP course er price hocche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   50,000 BDT. ..."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6210740" y="1101527"/>
            <a:ext cx="5325830" cy="139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850"/>
              <a:buFont typeface="Raleway"/>
              <a:buNone/>
            </a:pPr>
            <a:r>
              <a:rPr b="0" i="0" lang="en-US" sz="8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5 Key Design Rules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6210740" y="1294507"/>
            <a:ext cx="5325830" cy="1700312"/>
          </a:xfrm>
          <a:prstGeom prst="roundRect">
            <a:avLst>
              <a:gd fmla="val 2199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9"/>
          <p:cNvSpPr/>
          <p:nvPr/>
        </p:nvSpPr>
        <p:spPr>
          <a:xfrm>
            <a:off x="6210740" y="1483519"/>
            <a:ext cx="5325830" cy="6350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9"/>
          <p:cNvSpPr/>
          <p:nvPr/>
        </p:nvSpPr>
        <p:spPr>
          <a:xfrm>
            <a:off x="6210740" y="1785144"/>
            <a:ext cx="5325830" cy="6350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9"/>
          <p:cNvSpPr/>
          <p:nvPr/>
        </p:nvSpPr>
        <p:spPr>
          <a:xfrm>
            <a:off x="6210740" y="2086769"/>
            <a:ext cx="5325830" cy="6350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9"/>
          <p:cNvSpPr/>
          <p:nvPr/>
        </p:nvSpPr>
        <p:spPr>
          <a:xfrm>
            <a:off x="6210740" y="2388394"/>
            <a:ext cx="5325830" cy="6350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9"/>
          <p:cNvSpPr/>
          <p:nvPr/>
        </p:nvSpPr>
        <p:spPr>
          <a:xfrm>
            <a:off x="6210740" y="2696369"/>
            <a:ext cx="5325830" cy="6350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9"/>
          <p:cNvSpPr/>
          <p:nvPr/>
        </p:nvSpPr>
        <p:spPr>
          <a:xfrm>
            <a:off x="6217189" y="1300857"/>
            <a:ext cx="2656516" cy="182662"/>
          </a:xfrm>
          <a:prstGeom prst="rect">
            <a:avLst/>
          </a:prstGeom>
          <a:solidFill>
            <a:srgbClr val="1B1B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9"/>
          <p:cNvSpPr/>
          <p:nvPr/>
        </p:nvSpPr>
        <p:spPr>
          <a:xfrm>
            <a:off x="6306186" y="1335881"/>
            <a:ext cx="3088106" cy="109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Roboto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Rule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8873705" y="1300857"/>
            <a:ext cx="2656516" cy="182662"/>
          </a:xfrm>
          <a:prstGeom prst="rect">
            <a:avLst/>
          </a:prstGeom>
          <a:solidFill>
            <a:srgbClr val="1B1B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9"/>
          <p:cNvSpPr/>
          <p:nvPr/>
        </p:nvSpPr>
        <p:spPr>
          <a:xfrm>
            <a:off x="8962702" y="1335881"/>
            <a:ext cx="3088106" cy="109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Roboto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Enforcement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6306186" y="1521718"/>
            <a:ext cx="3088106" cy="109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00"/>
              <a:buFont typeface="Roboto"/>
              <a:buNone/>
            </a:pPr>
            <a:r>
              <a:rPr b="0" i="0" lang="en-US" sz="7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Category derived from intent, never predicted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8962702" y="1521718"/>
            <a:ext cx="2478522" cy="225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3C393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normalize_prediction_category(intent, None)</a:t>
            </a:r>
            <a:r>
              <a:rPr b="0" i="0" lang="en-US" sz="7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discards model category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6306186" y="1823343"/>
            <a:ext cx="3088106" cy="109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00"/>
              <a:buFont typeface="Roboto"/>
              <a:buNone/>
            </a:pPr>
            <a:r>
              <a:rPr b="0" i="0" lang="en-US" sz="7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AI-first, local is fallback only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9"/>
          <p:cNvSpPr/>
          <p:nvPr/>
        </p:nvSpPr>
        <p:spPr>
          <a:xfrm>
            <a:off x="8962702" y="1823343"/>
            <a:ext cx="2478522" cy="225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3C393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intent_mode=ai</a:t>
            </a:r>
            <a:r>
              <a:rPr b="0" i="0" lang="en-US" sz="7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tries LLM first; local only on operational failure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6306186" y="2124968"/>
            <a:ext cx="3088106" cy="1157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00"/>
              <a:buFont typeface="Roboto"/>
              <a:buNone/>
            </a:pPr>
            <a:r>
              <a:rPr b="0" i="0" lang="en-US" sz="7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Valid AI </a:t>
            </a:r>
            <a:r>
              <a:rPr b="0" i="0" lang="en-US" sz="700" u="none" cap="none" strike="noStrike">
                <a:solidFill>
                  <a:srgbClr val="3C393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unknown</a:t>
            </a:r>
            <a:r>
              <a:rPr b="0" i="0" lang="en-US" sz="7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is NOT overwritten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8962702" y="2124968"/>
            <a:ext cx="2478522" cy="225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00"/>
              <a:buFont typeface="Roboto"/>
              <a:buNone/>
            </a:pPr>
            <a:r>
              <a:rPr b="0" i="0" lang="en-US" sz="7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Only </a:t>
            </a:r>
            <a:r>
              <a:rPr b="0" i="0" lang="en-US" sz="700" u="none" cap="none" strike="noStrike">
                <a:solidFill>
                  <a:srgbClr val="3C393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intent_fallback_enabled()</a:t>
            </a:r>
            <a:r>
              <a:rPr b="0" i="0" lang="en-US" sz="7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on exceptions, not on valid unknown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6306186" y="2426593"/>
            <a:ext cx="3088106" cy="109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00"/>
              <a:buFont typeface="Roboto"/>
              <a:buNone/>
            </a:pPr>
            <a:r>
              <a:rPr b="0" i="0" lang="en-US" sz="7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Business profile gates all intents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8962702" y="2426593"/>
            <a:ext cx="2478522" cy="231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3C393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allowed_intents</a:t>
            </a:r>
            <a:r>
              <a:rPr b="0" i="0" lang="en-US" sz="7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passed to classifier; rejected intents → </a:t>
            </a:r>
            <a:r>
              <a:rPr b="0" i="0" lang="en-US" sz="700" u="none" cap="none" strike="noStrike">
                <a:solidFill>
                  <a:srgbClr val="3C393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unknown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9"/>
          <p:cNvSpPr/>
          <p:nvPr/>
        </p:nvSpPr>
        <p:spPr>
          <a:xfrm>
            <a:off x="6306186" y="2734568"/>
            <a:ext cx="3088106" cy="109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00"/>
              <a:buFont typeface="Roboto"/>
              <a:buNone/>
            </a:pPr>
            <a:r>
              <a:rPr b="0" i="0" lang="en-US" sz="7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Single classification per message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8962702" y="2734568"/>
            <a:ext cx="2478522" cy="2188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00"/>
              <a:buFont typeface="Roboto"/>
              <a:buNone/>
            </a:pPr>
            <a:r>
              <a:rPr b="0" i="0" lang="en-US" sz="7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Orchestrator calls classifier once; answer strategies consume the result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9"/>
          <p:cNvSpPr/>
          <p:nvPr/>
        </p:nvSpPr>
        <p:spPr>
          <a:xfrm>
            <a:off x="6210740" y="3048695"/>
            <a:ext cx="5325830" cy="242888"/>
          </a:xfrm>
          <a:prstGeom prst="roundRect">
            <a:avLst>
              <a:gd fmla="val 15394" name="adj"/>
            </a:avLst>
          </a:prstGeom>
          <a:solidFill>
            <a:srgbClr val="E1E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6" name="Google Shape;28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99737" y="3164582"/>
            <a:ext cx="111221" cy="88999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9"/>
          <p:cNvSpPr/>
          <p:nvPr/>
        </p:nvSpPr>
        <p:spPr>
          <a:xfrm>
            <a:off x="6499955" y="3113980"/>
            <a:ext cx="5557202" cy="109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Roboto"/>
              <a:buNone/>
            </a:pPr>
            <a:r>
              <a:rPr b="0" i="0" lang="en-US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Every rule is enforced structurally — by code, not convention. The pipeline cannot violate these constraints at runtime.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5084325" y="6556275"/>
            <a:ext cx="7107300" cy="30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0"/>
          <p:cNvSpPr/>
          <p:nvPr/>
        </p:nvSpPr>
        <p:spPr>
          <a:xfrm>
            <a:off x="661475" y="956469"/>
            <a:ext cx="10868745" cy="3876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400"/>
              <a:buFont typeface="Raleway"/>
              <a:buNone/>
            </a:pPr>
            <a:r>
              <a:rPr b="0" i="0" lang="en-US" sz="24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Architecture Summary: Why It's Built This Way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661475" y="1530152"/>
            <a:ext cx="11478330" cy="173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Each design decision in the pipeline exists to eliminate a specific failure mode. The architecture is defensive by construction.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6" name="Google Shape;29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1808361"/>
            <a:ext cx="10868745" cy="744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7" name="Google Shape;29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5975" y="2087364"/>
            <a:ext cx="186031" cy="186035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10"/>
          <p:cNvSpPr/>
          <p:nvPr/>
        </p:nvSpPr>
        <p:spPr>
          <a:xfrm>
            <a:off x="1263222" y="1945084"/>
            <a:ext cx="10130279" cy="193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00"/>
              <a:buFont typeface="Raleway"/>
              <a:buNone/>
            </a:pPr>
            <a:r>
              <a:rPr b="0" i="0" lang="en-US" sz="12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Structural Hallucination Prevention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1263222" y="2194620"/>
            <a:ext cx="10130279" cy="1799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Runtime JSON schema </a:t>
            </a:r>
            <a:r>
              <a:rPr b="0" i="0" lang="en-US" sz="950" u="none" cap="none" strike="noStrike">
                <a:solidFill>
                  <a:srgbClr val="3C393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enum</a:t>
            </a: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built from active profile. The model cannot output an intent that isn't in the frozenset — structurally impossible, not just prompted away.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0" name="Google Shape;30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2645569"/>
            <a:ext cx="10868745" cy="744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1" name="Google Shape;301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5975" y="2924572"/>
            <a:ext cx="186031" cy="186035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10"/>
          <p:cNvSpPr/>
          <p:nvPr/>
        </p:nvSpPr>
        <p:spPr>
          <a:xfrm>
            <a:off x="1263222" y="2782292"/>
            <a:ext cx="10130279" cy="193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00"/>
              <a:buFont typeface="Raleway"/>
              <a:buNone/>
            </a:pPr>
            <a:r>
              <a:rPr b="0" i="0" lang="en-US" sz="12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Deterministic Category Derivation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0"/>
          <p:cNvSpPr/>
          <p:nvPr/>
        </p:nvSpPr>
        <p:spPr>
          <a:xfrm>
            <a:off x="1263222" y="3031827"/>
            <a:ext cx="10130279" cy="1799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INTENT_TO_CATEGORY</a:t>
            </a: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map is a static dictionary lookup. Zero inference, zero latency, fully auditable. Category is never a model concern.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4" name="Google Shape;30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3482777"/>
            <a:ext cx="10868745" cy="744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5" name="Google Shape;305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5975" y="3761780"/>
            <a:ext cx="186031" cy="186035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10"/>
          <p:cNvSpPr/>
          <p:nvPr/>
        </p:nvSpPr>
        <p:spPr>
          <a:xfrm>
            <a:off x="1263222" y="3619500"/>
            <a:ext cx="10130279" cy="193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00"/>
              <a:buFont typeface="Raleway"/>
              <a:buNone/>
            </a:pPr>
            <a:r>
              <a:rPr b="0" i="0" lang="en-US" sz="12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Profile-Scoped Gating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0"/>
          <p:cNvSpPr/>
          <p:nvPr/>
        </p:nvSpPr>
        <p:spPr>
          <a:xfrm>
            <a:off x="1263222" y="3869035"/>
            <a:ext cx="10130279" cy="1799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The allowed-intent gate runs after every classification. Out-of-profile intents are hard-rejected to </a:t>
            </a:r>
            <a:r>
              <a:rPr b="0" i="0" lang="en-US" sz="950" u="none" cap="none" strike="noStrike">
                <a:solidFill>
                  <a:srgbClr val="3C393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unknown</a:t>
            </a: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regardless of model confidence.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8" name="Google Shape;30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4319984"/>
            <a:ext cx="10868745" cy="744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9" name="Google Shape;309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5975" y="4598988"/>
            <a:ext cx="186031" cy="186035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10"/>
          <p:cNvSpPr/>
          <p:nvPr/>
        </p:nvSpPr>
        <p:spPr>
          <a:xfrm>
            <a:off x="1263222" y="4456708"/>
            <a:ext cx="10130279" cy="193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00"/>
              <a:buFont typeface="Raleway"/>
              <a:buNone/>
            </a:pPr>
            <a:r>
              <a:rPr b="0" i="0" lang="en-US" sz="12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Graceful Degradation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0"/>
          <p:cNvSpPr/>
          <p:nvPr/>
        </p:nvSpPr>
        <p:spPr>
          <a:xfrm>
            <a:off x="1263222" y="4706243"/>
            <a:ext cx="10130279" cy="173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Two-level fallback chain ensures classification always returns a result. Local keyword rules are deterministic, zero-cost, and always available.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2" name="Google Shape;31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5157192"/>
            <a:ext cx="10868745" cy="744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3" name="Google Shape;313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25975" y="5436195"/>
            <a:ext cx="186031" cy="186035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10"/>
          <p:cNvSpPr/>
          <p:nvPr/>
        </p:nvSpPr>
        <p:spPr>
          <a:xfrm>
            <a:off x="1263222" y="5293916"/>
            <a:ext cx="10130279" cy="193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00"/>
              <a:buFont typeface="Raleway"/>
              <a:buNone/>
            </a:pPr>
            <a:r>
              <a:rPr b="0" i="0" lang="en-US" sz="12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Business Logic Separation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0"/>
          <p:cNvSpPr/>
          <p:nvPr/>
        </p:nvSpPr>
        <p:spPr>
          <a:xfrm>
            <a:off x="1263222" y="5543451"/>
            <a:ext cx="10130279" cy="173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Post-classification overrides are pure business logic, applied after the model. They are auditable, testable, and independent of model behavior.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0"/>
          <p:cNvSpPr/>
          <p:nvPr/>
        </p:nvSpPr>
        <p:spPr>
          <a:xfrm>
            <a:off x="5084325" y="6556275"/>
            <a:ext cx="7107300" cy="30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1"/>
          <p:cNvSpPr/>
          <p:nvPr/>
        </p:nvSpPr>
        <p:spPr>
          <a:xfrm>
            <a:off x="661475" y="903684"/>
            <a:ext cx="10868745" cy="14263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4450"/>
              <a:buFont typeface="Raleway"/>
              <a:buNone/>
            </a:pPr>
            <a:r>
              <a:rPr b="0" i="0" lang="en-US" sz="44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One message in. One intent out. Every time.</a:t>
            </a:r>
            <a:endParaRPr b="0" i="0" sz="4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1"/>
          <p:cNvSpPr/>
          <p:nvPr/>
        </p:nvSpPr>
        <p:spPr>
          <a:xfrm>
            <a:off x="661475" y="2702024"/>
            <a:ext cx="10868745" cy="19050"/>
          </a:xfrm>
          <a:prstGeom prst="roundRect">
            <a:avLst>
              <a:gd fmla="val 59999" name="adj"/>
            </a:avLst>
          </a:prstGeom>
          <a:solidFill>
            <a:srgbClr val="3C3939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1"/>
          <p:cNvSpPr/>
          <p:nvPr/>
        </p:nvSpPr>
        <p:spPr>
          <a:xfrm>
            <a:off x="661475" y="2948384"/>
            <a:ext cx="10868745" cy="1918494"/>
          </a:xfrm>
          <a:prstGeom prst="roundRect">
            <a:avLst>
              <a:gd fmla="val 3621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1"/>
          <p:cNvSpPr/>
          <p:nvPr/>
        </p:nvSpPr>
        <p:spPr>
          <a:xfrm>
            <a:off x="667825" y="2954734"/>
            <a:ext cx="3618616" cy="952897"/>
          </a:xfrm>
          <a:prstGeom prst="rect">
            <a:avLst/>
          </a:prstGeom>
          <a:solidFill>
            <a:srgbClr val="E1E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1"/>
          <p:cNvSpPr/>
          <p:nvPr/>
        </p:nvSpPr>
        <p:spPr>
          <a:xfrm>
            <a:off x="833119" y="3120033"/>
            <a:ext cx="3288027" cy="258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600"/>
              <a:buFont typeface="Raleway"/>
              <a:buNone/>
            </a:pPr>
            <a:r>
              <a:rPr b="0" i="0" lang="en-US" sz="16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19 Intents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1"/>
          <p:cNvSpPr/>
          <p:nvPr/>
        </p:nvSpPr>
        <p:spPr>
          <a:xfrm>
            <a:off x="833119" y="3477716"/>
            <a:ext cx="3288027" cy="264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Pre-defined taxonomy. Model picks one.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1"/>
          <p:cNvSpPr/>
          <p:nvPr/>
        </p:nvSpPr>
        <p:spPr>
          <a:xfrm>
            <a:off x="4286440" y="2954734"/>
            <a:ext cx="3618715" cy="952897"/>
          </a:xfrm>
          <a:prstGeom prst="rect">
            <a:avLst/>
          </a:prstGeom>
          <a:solidFill>
            <a:srgbClr val="E1E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1"/>
          <p:cNvSpPr/>
          <p:nvPr/>
        </p:nvSpPr>
        <p:spPr>
          <a:xfrm>
            <a:off x="4286440" y="2954734"/>
            <a:ext cx="19050" cy="952897"/>
          </a:xfrm>
          <a:prstGeom prst="roundRect">
            <a:avLst>
              <a:gd fmla="val 364642" name="adj"/>
            </a:avLst>
          </a:prstGeom>
          <a:solidFill>
            <a:srgbClr val="C7C7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1"/>
          <p:cNvSpPr/>
          <p:nvPr/>
        </p:nvSpPr>
        <p:spPr>
          <a:xfrm>
            <a:off x="4451735" y="3120033"/>
            <a:ext cx="3288126" cy="258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600"/>
              <a:buFont typeface="Raleway"/>
              <a:buNone/>
            </a:pPr>
            <a:r>
              <a:rPr b="0" i="0" lang="en-US" sz="16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1 Gate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1"/>
          <p:cNvSpPr/>
          <p:nvPr/>
        </p:nvSpPr>
        <p:spPr>
          <a:xfrm>
            <a:off x="4451735" y="3477716"/>
            <a:ext cx="3288126" cy="264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Profile-scoped. Hard rejection on violation.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1"/>
          <p:cNvSpPr/>
          <p:nvPr/>
        </p:nvSpPr>
        <p:spPr>
          <a:xfrm>
            <a:off x="7905155" y="2954734"/>
            <a:ext cx="3618715" cy="952897"/>
          </a:xfrm>
          <a:prstGeom prst="rect">
            <a:avLst/>
          </a:prstGeom>
          <a:solidFill>
            <a:srgbClr val="E1E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1"/>
          <p:cNvSpPr/>
          <p:nvPr/>
        </p:nvSpPr>
        <p:spPr>
          <a:xfrm>
            <a:off x="7905155" y="2954734"/>
            <a:ext cx="19050" cy="952897"/>
          </a:xfrm>
          <a:prstGeom prst="roundRect">
            <a:avLst>
              <a:gd fmla="val 364642" name="adj"/>
            </a:avLst>
          </a:prstGeom>
          <a:solidFill>
            <a:srgbClr val="C7C7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1"/>
          <p:cNvSpPr/>
          <p:nvPr/>
        </p:nvSpPr>
        <p:spPr>
          <a:xfrm>
            <a:off x="8070450" y="3120033"/>
            <a:ext cx="3288126" cy="258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600"/>
              <a:buFont typeface="Raleway"/>
              <a:buNone/>
            </a:pPr>
            <a:r>
              <a:rPr b="0" i="0" lang="en-US" sz="16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3 Overrides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1"/>
          <p:cNvSpPr/>
          <p:nvPr/>
        </p:nvSpPr>
        <p:spPr>
          <a:xfrm>
            <a:off x="8070450" y="3477716"/>
            <a:ext cx="3288126" cy="264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Business logic. Always wins over model.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1"/>
          <p:cNvSpPr/>
          <p:nvPr/>
        </p:nvSpPr>
        <p:spPr>
          <a:xfrm>
            <a:off x="667825" y="3907631"/>
            <a:ext cx="5428023" cy="952897"/>
          </a:xfrm>
          <a:prstGeom prst="rect">
            <a:avLst/>
          </a:prstGeom>
          <a:solidFill>
            <a:srgbClr val="E1E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1"/>
          <p:cNvSpPr/>
          <p:nvPr/>
        </p:nvSpPr>
        <p:spPr>
          <a:xfrm>
            <a:off x="667825" y="3907631"/>
            <a:ext cx="5428023" cy="19050"/>
          </a:xfrm>
          <a:prstGeom prst="roundRect">
            <a:avLst>
              <a:gd fmla="val 364642" name="adj"/>
            </a:avLst>
          </a:prstGeom>
          <a:solidFill>
            <a:srgbClr val="C7C7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1"/>
          <p:cNvSpPr/>
          <p:nvPr/>
        </p:nvSpPr>
        <p:spPr>
          <a:xfrm>
            <a:off x="833119" y="4072930"/>
            <a:ext cx="5097434" cy="258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600"/>
              <a:buFont typeface="Raleway"/>
              <a:buNone/>
            </a:pPr>
            <a:r>
              <a:rPr b="0" i="0" lang="en-US" sz="16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0 Category Predictions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1"/>
          <p:cNvSpPr/>
          <p:nvPr/>
        </p:nvSpPr>
        <p:spPr>
          <a:xfrm>
            <a:off x="833119" y="4430613"/>
            <a:ext cx="5097434" cy="264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Derived deterministically. Never inferred.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1"/>
          <p:cNvSpPr/>
          <p:nvPr/>
        </p:nvSpPr>
        <p:spPr>
          <a:xfrm>
            <a:off x="6095848" y="3907631"/>
            <a:ext cx="5428023" cy="952897"/>
          </a:xfrm>
          <a:prstGeom prst="rect">
            <a:avLst/>
          </a:prstGeom>
          <a:solidFill>
            <a:srgbClr val="E1E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1"/>
          <p:cNvSpPr/>
          <p:nvPr/>
        </p:nvSpPr>
        <p:spPr>
          <a:xfrm>
            <a:off x="6095848" y="3907631"/>
            <a:ext cx="19050" cy="952897"/>
          </a:xfrm>
          <a:prstGeom prst="roundRect">
            <a:avLst>
              <a:gd fmla="val 364642" name="adj"/>
            </a:avLst>
          </a:prstGeom>
          <a:solidFill>
            <a:srgbClr val="C7C7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1"/>
          <p:cNvSpPr/>
          <p:nvPr/>
        </p:nvSpPr>
        <p:spPr>
          <a:xfrm>
            <a:off x="6095848" y="3907631"/>
            <a:ext cx="5428023" cy="19050"/>
          </a:xfrm>
          <a:prstGeom prst="roundRect">
            <a:avLst>
              <a:gd fmla="val 364642" name="adj"/>
            </a:avLst>
          </a:prstGeom>
          <a:solidFill>
            <a:srgbClr val="C7C7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1"/>
          <p:cNvSpPr/>
          <p:nvPr/>
        </p:nvSpPr>
        <p:spPr>
          <a:xfrm>
            <a:off x="6261142" y="4072930"/>
            <a:ext cx="5097434" cy="258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600"/>
              <a:buFont typeface="Raleway"/>
              <a:buNone/>
            </a:pPr>
            <a:r>
              <a:rPr b="0" i="0" lang="en-US" sz="16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2 Fallback Levels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1"/>
          <p:cNvSpPr/>
          <p:nvPr/>
        </p:nvSpPr>
        <p:spPr>
          <a:xfrm>
            <a:off x="6261142" y="4430613"/>
            <a:ext cx="5097434" cy="264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Local is always available. Zero-cost safety net.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1"/>
          <p:cNvSpPr/>
          <p:nvPr/>
        </p:nvSpPr>
        <p:spPr>
          <a:xfrm>
            <a:off x="661475" y="5052913"/>
            <a:ext cx="19050" cy="901303"/>
          </a:xfrm>
          <a:prstGeom prst="roundRect">
            <a:avLst>
              <a:gd fmla="val 59999" name="adj"/>
            </a:avLst>
          </a:prstGeom>
          <a:solidFill>
            <a:srgbClr val="1B1B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1"/>
          <p:cNvSpPr/>
          <p:nvPr/>
        </p:nvSpPr>
        <p:spPr>
          <a:xfrm>
            <a:off x="909516" y="5238948"/>
            <a:ext cx="10620705" cy="5292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The pipeline is deterministic by design. Every constraint is structural — enforced by code, not convention. The model classifies. The system decides.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1"/>
          <p:cNvSpPr/>
          <p:nvPr/>
        </p:nvSpPr>
        <p:spPr>
          <a:xfrm>
            <a:off x="5084325" y="6556275"/>
            <a:ext cx="7107300" cy="30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2026-07-22T12:55:01Z</dcterms:created>
</cp:coreProperties>
</file>